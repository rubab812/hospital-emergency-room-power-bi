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8" autoAdjust="0"/>
    <p:restoredTop sz="84950" autoAdjust="0"/>
  </p:normalViewPr>
  <p:slideViewPr>
    <p:cSldViewPr snapToGrid="0" snapToObjects="1">
      <p:cViewPr varScale="1">
        <p:scale>
          <a:sx n="105" d="100"/>
          <a:sy n="105" d="100"/>
        </p:scale>
        <p:origin x="54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3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84048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84048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" y="566928"/>
            <a:ext cx="475488" cy="47548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1388" y="652516"/>
            <a:ext cx="66568" cy="304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2516" y="771388"/>
            <a:ext cx="304312" cy="66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ROOM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5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portfolio presentation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657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5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requirements, analytical pages, charts, KPIs and project findings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956048"/>
            <a:ext cx="960120" cy="274320"/>
          </a:xfrm>
          <a:prstGeom prst="roundRect">
            <a:avLst>
              <a:gd name="adj" fmla="val 23333"/>
            </a:avLst>
          </a:prstGeom>
          <a:solidFill>
            <a:srgbClr val="1F7A8C"/>
          </a:solidFill>
          <a:ln w="1016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" y="5038344"/>
            <a:ext cx="8503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1682496" y="4956048"/>
            <a:ext cx="1005840" cy="274320"/>
          </a:xfrm>
          <a:prstGeom prst="roundRect">
            <a:avLst>
              <a:gd name="adj" fmla="val 23333"/>
            </a:avLst>
          </a:prstGeom>
          <a:solidFill>
            <a:srgbClr val="126579"/>
          </a:solidFill>
          <a:ln w="10160">
            <a:solidFill>
              <a:srgbClr val="1265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5038344"/>
            <a:ext cx="8961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94360" y="5321808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F2C14E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" y="5404104"/>
            <a:ext cx="54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1380744" y="5321808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E76F51"/>
          </a:solidFill>
          <a:ln w="1016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35608" y="540410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REPORT PAGES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169664" y="438912"/>
            <a:ext cx="3840480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blurRad="27940" dist="1397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/mnt/data/pbix_actual_assets/monthly_view_actual.png"/>
          <p:cNvPicPr>
            <a:picLocks noChangeAspect="1"/>
          </p:cNvPicPr>
          <p:nvPr/>
        </p:nvPicPr>
        <p:blipFill>
          <a:blip r:embed="rId3"/>
          <a:srcRect l="109" r="109"/>
          <a:stretch/>
        </p:blipFill>
        <p:spPr>
          <a:xfrm rot="-90000">
            <a:off x="4224528" y="493776"/>
            <a:ext cx="3730752" cy="21031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973568" y="658368"/>
            <a:ext cx="3840480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blurRad="354838000" dist="177419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1" descr="/mnt/data/pbix_actual_assets/consolidated_view_actual.png"/>
          <p:cNvPicPr>
            <a:picLocks noChangeAspect="1"/>
          </p:cNvPicPr>
          <p:nvPr/>
        </p:nvPicPr>
        <p:blipFill>
          <a:blip r:embed="rId4"/>
          <a:srcRect l="109" r="109"/>
          <a:stretch/>
        </p:blipFill>
        <p:spPr>
          <a:xfrm rot="90000">
            <a:off x="8028432" y="713232"/>
            <a:ext cx="3730752" cy="21031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089904" y="3447288"/>
            <a:ext cx="3840480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/mnt/data/pbix_actual_assets/patient_details_actual.png"/>
          <p:cNvPicPr>
            <a:picLocks noChangeAspect="1"/>
          </p:cNvPicPr>
          <p:nvPr/>
        </p:nvPicPr>
        <p:blipFill>
          <a:blip r:embed="rId5"/>
          <a:srcRect l="109" r="109"/>
          <a:stretch/>
        </p:blipFill>
        <p:spPr>
          <a:xfrm>
            <a:off x="6144768" y="3502152"/>
            <a:ext cx="3730752" cy="21031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400800" y="6016752"/>
            <a:ext cx="318211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565392" y="6153912"/>
            <a:ext cx="2852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9,216 visits | Apr 2023 - Oct 2024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75488" y="1133856"/>
            <a:ext cx="59436" cy="24688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1115568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Requirement-to-report mapping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" y="1576093"/>
            <a:ext cx="11228832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85216" y="1627632"/>
            <a:ext cx="11009376" cy="3931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746504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area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70632" y="1746504"/>
            <a:ext cx="5943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034272" y="17465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KPIs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70632" y="204825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patients, average wait, seen within 30 minutes, satisfaction, admissions and referrals.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9354312" y="2121408"/>
            <a:ext cx="832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5216" y="2532888"/>
            <a:ext cx="11009376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770632" y="257860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Single-month KPIs, daily volume, admission, gender, referrals, age and day/time analysis.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58368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View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770632" y="310896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Date-range KPIs, monthly volume/wait, admission mix, weekday volume and referral analysis.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85216" y="3593592"/>
            <a:ext cx="11009376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Details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2770632" y="363931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Patient-level table, filtering, wait-time mix, admission status and department analysis.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9354312" y="4242816"/>
            <a:ext cx="832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current PBI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Analytical Model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turns one ER visit table into operational KPIs, trends, distributions and patient-level detail.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75488" y="1161288"/>
            <a:ext cx="1737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188720"/>
            <a:ext cx="50292" cy="8412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28930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VISITS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9,216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186537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visit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2359152" y="1161288"/>
            <a:ext cx="1737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86584" y="1188720"/>
            <a:ext cx="50292" cy="84124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23744" y="128930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23744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579 days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23744" y="186537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Apr 2023 - 30 Oct 2024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4242816" y="1161288"/>
            <a:ext cx="1737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70248" y="1188720"/>
            <a:ext cx="50292" cy="84124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07408" y="128930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407408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 min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07408" y="186537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35 min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6126480" y="1161288"/>
            <a:ext cx="1737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53912" y="1188720"/>
            <a:ext cx="50292" cy="84124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28930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CARE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291072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40.7%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91072" y="186537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within 30 minutes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8010144" y="1161288"/>
            <a:ext cx="1737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37576" y="1188720"/>
            <a:ext cx="50292" cy="8412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74736" y="128930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174736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74736" y="186537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4,612 admitted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9893808" y="1161288"/>
            <a:ext cx="181051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921240" y="1188720"/>
            <a:ext cx="50292" cy="8412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58400" y="1289304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0058400" y="148132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41.4%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058400" y="1865376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3,816 referred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475488" y="2395728"/>
            <a:ext cx="59436" cy="24688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2648" y="237744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02920" y="2743200"/>
            <a:ext cx="144475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0352" y="2770632"/>
            <a:ext cx="50292" cy="1289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7512" y="29443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source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" y="3401568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supplied columns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9,216 records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075688" y="3182112"/>
            <a:ext cx="274320" cy="457200"/>
          </a:xfrm>
          <a:prstGeom prst="chevron">
            <a:avLst/>
          </a:prstGeom>
          <a:solidFill>
            <a:srgbClr val="E5EAF0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944368" y="2743200"/>
            <a:ext cx="144475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971800" y="2770632"/>
            <a:ext cx="50292" cy="1289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108960" y="29443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090672" y="3401568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Types, dates, categories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derived fields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4517136" y="3182112"/>
            <a:ext cx="274320" cy="457200"/>
          </a:xfrm>
          <a:prstGeom prst="chevron">
            <a:avLst/>
          </a:prstGeom>
          <a:solidFill>
            <a:srgbClr val="E5EAF0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385816" y="2743200"/>
            <a:ext cx="144475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413248" y="2770632"/>
            <a:ext cx="50292" cy="1289304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550408" y="29443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model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532120" y="3401568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context and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measures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6958584" y="3182112"/>
            <a:ext cx="274320" cy="457200"/>
          </a:xfrm>
          <a:prstGeom prst="chevron">
            <a:avLst/>
          </a:prstGeom>
          <a:solidFill>
            <a:srgbClr val="E5EAF0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827264" y="2743200"/>
            <a:ext cx="144475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854696" y="2770632"/>
            <a:ext cx="50292" cy="12893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991856" y="29443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pages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973568" y="3401568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Monthly, consolidated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patient detail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9400032" y="3182112"/>
            <a:ext cx="274320" cy="457200"/>
          </a:xfrm>
          <a:prstGeom prst="chevron">
            <a:avLst/>
          </a:prstGeom>
          <a:solidFill>
            <a:srgbClr val="E5EAF0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0268712" y="2743200"/>
            <a:ext cx="144475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296144" y="2770632"/>
            <a:ext cx="50292" cy="12893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433304" y="29443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0415016" y="3401568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trends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investigation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475488" y="4453128"/>
            <a:ext cx="59436" cy="2468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12648" y="4434840"/>
            <a:ext cx="3108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analytical calculations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475488" y="4791456"/>
            <a:ext cx="11228832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13232" y="50474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13232" y="53492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patient/visit count, daily and monthly trends.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456432" y="50474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456432" y="53492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wait, wait-time bands and &lt;=30-minute performance.</a:t>
            </a:r>
            <a:endParaRPr lang="en-US" sz="880" dirty="0"/>
          </a:p>
        </p:txBody>
      </p:sp>
      <p:sp>
        <p:nvSpPr>
          <p:cNvPr id="73" name="Text 71"/>
          <p:cNvSpPr/>
          <p:nvPr/>
        </p:nvSpPr>
        <p:spPr>
          <a:xfrm>
            <a:off x="6199632" y="50474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199632" y="53492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rate, referral rate and department ranking.</a:t>
            </a:r>
            <a:endParaRPr lang="en-US" sz="880" dirty="0"/>
          </a:p>
        </p:txBody>
      </p:sp>
      <p:sp>
        <p:nvSpPr>
          <p:cNvPr id="75" name="Text 73"/>
          <p:cNvSpPr/>
          <p:nvPr/>
        </p:nvSpPr>
        <p:spPr>
          <a:xfrm>
            <a:off x="8942832" y="50474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942832" y="53492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satisfaction and response coverage.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PBIX Visual Inventory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uses native Power BI visuals across three implemented pages.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75488" y="1225296"/>
            <a:ext cx="3401568" cy="4407408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252728"/>
            <a:ext cx="50292" cy="435254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4630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6656" y="1965960"/>
            <a:ext cx="292608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KPI cards with sparklines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chart - daily volume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- admission status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stacked bar - gender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- department referrals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chart - age bands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heatmap - day and time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31520" y="5047488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F7A8C"/>
          </a:solidFill>
          <a:ln w="1016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5129784"/>
            <a:ext cx="12618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FILTER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169664" y="1225296"/>
            <a:ext cx="3401568" cy="4407408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97096" y="1252728"/>
            <a:ext cx="50292" cy="4352544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25696" y="14630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70832" y="1965960"/>
            <a:ext cx="292608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 cards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+ clustered column combo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stacked monthly columns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column chart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referral bar chart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Treemap - referral mix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Between-date slicer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25696" y="5047488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4FB3BF"/>
          </a:solidFill>
          <a:ln w="10160">
            <a:solidFill>
              <a:srgbClr val="4FB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5129784"/>
            <a:ext cx="12618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863840" y="1225296"/>
            <a:ext cx="3401568" cy="4407408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91272" y="1252728"/>
            <a:ext cx="50292" cy="435254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19872" y="14630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Details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065008" y="1965960"/>
            <a:ext cx="292608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KPI cards and reset button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report slicers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Patient-level table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- wait-time mix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- top departments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status formatting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Date-range slicer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119872" y="5047488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E76F51"/>
          </a:solidFill>
          <a:ln w="1016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74736" y="5129784"/>
            <a:ext cx="12618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MULTI-FILTER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1 - Monthly View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Single-month operational monitoring with KPI trends and patient-flow analysis.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11265408" cy="5385816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monthly_view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792" y="1097280"/>
            <a:ext cx="9412224" cy="529437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 - KPI Visuals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KPI groups combine the current value, month-over-month comparison and a daily sparkline.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8056" y="1097280"/>
            <a:ext cx="112928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monthly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439598"/>
            <a:ext cx="11201400" cy="132704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2064" y="3383280"/>
            <a:ext cx="59436" cy="24688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9224" y="3364992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2024 KPI interpretation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1208" y="374904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" y="3776472"/>
            <a:ext cx="50292" cy="117957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04088" y="396849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704088" y="422452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04088" y="47000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-12.1% vs. August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2788920" y="374904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816352" y="3776472"/>
            <a:ext cx="50292" cy="117957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971800" y="396849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2971800" y="422452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 min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971800" y="47000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 min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5056632" y="374904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084064" y="3776472"/>
            <a:ext cx="50292" cy="1179576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239512" y="396849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&lt;=30 MIN</a:t>
            </a:r>
            <a:endParaRPr lang="en-US" sz="740" dirty="0"/>
          </a:p>
        </p:txBody>
      </p:sp>
      <p:sp>
        <p:nvSpPr>
          <p:cNvPr id="27" name="Text 24"/>
          <p:cNvSpPr/>
          <p:nvPr/>
        </p:nvSpPr>
        <p:spPr>
          <a:xfrm>
            <a:off x="5239512" y="422452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40.3%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5239512" y="47000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 pp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7324344" y="374904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351776" y="3776472"/>
            <a:ext cx="50292" cy="11795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507224" y="396849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740" dirty="0"/>
          </a:p>
        </p:txBody>
      </p:sp>
      <p:sp>
        <p:nvSpPr>
          <p:cNvPr id="32" name="Text 29"/>
          <p:cNvSpPr/>
          <p:nvPr/>
        </p:nvSpPr>
        <p:spPr>
          <a:xfrm>
            <a:off x="7507224" y="422452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4.91/10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7507224" y="47000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-0.27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9592056" y="374904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619488" y="3776472"/>
            <a:ext cx="50292" cy="1179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774936" y="396849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9774936" y="422452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</a:t>
            </a:r>
            <a:endParaRPr lang="en-US" sz="1900" dirty="0"/>
          </a:p>
        </p:txBody>
      </p:sp>
      <p:sp>
        <p:nvSpPr>
          <p:cNvPr id="38" name="Text 35"/>
          <p:cNvSpPr/>
          <p:nvPr/>
        </p:nvSpPr>
        <p:spPr>
          <a:xfrm>
            <a:off x="9774936" y="47000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-13.5%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521208" y="5230368"/>
            <a:ext cx="11155680" cy="731520"/>
          </a:xfrm>
          <a:prstGeom prst="roundRect">
            <a:avLst>
              <a:gd name="adj" fmla="val 875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48640" y="5257800"/>
            <a:ext cx="50292" cy="67665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58952" y="54498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value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1920240" y="5404104"/>
            <a:ext cx="9308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compact KPI cards provide both the level and the direction of change without requiring the user to open a separate trend page.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 - Analytical Charts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chart visuals from the current Monthly View are presented below.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1088136"/>
            <a:ext cx="587044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monthly_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84" y="1133856"/>
            <a:ext cx="5517879" cy="2057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0" y="1088136"/>
            <a:ext cx="533095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pbix_actual_assets/monthly_admission_g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813" y="1133856"/>
            <a:ext cx="5122926" cy="2057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3410712"/>
            <a:ext cx="11274552" cy="2359152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mnt/data/pbix_actual_assets/monthly_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91796"/>
            <a:ext cx="11183112" cy="19969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94360" y="5989320"/>
            <a:ext cx="1234440" cy="274320"/>
          </a:xfrm>
          <a:prstGeom prst="roundRect">
            <a:avLst>
              <a:gd name="adj" fmla="val 23333"/>
            </a:avLst>
          </a:prstGeom>
          <a:solidFill>
            <a:srgbClr val="E7F0F7"/>
          </a:solidFill>
          <a:ln w="10160">
            <a:solidFill>
              <a:srgbClr val="E7F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49224" y="6071616"/>
            <a:ext cx="11247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CHART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1956816" y="5989320"/>
            <a:ext cx="1389888" cy="274320"/>
          </a:xfrm>
          <a:prstGeom prst="roundRect">
            <a:avLst>
              <a:gd name="adj" fmla="val 23333"/>
            </a:avLst>
          </a:prstGeom>
          <a:solidFill>
            <a:srgbClr val="DCEFF1"/>
          </a:solidFill>
          <a:ln w="10160">
            <a:solidFill>
              <a:srgbClr val="D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011680" y="6071616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+ CARD</a:t>
            </a:r>
            <a:endParaRPr lang="en-US" sz="760" dirty="0"/>
          </a:p>
        </p:txBody>
      </p:sp>
      <p:sp>
        <p:nvSpPr>
          <p:cNvPr id="20" name="Shape 15"/>
          <p:cNvSpPr/>
          <p:nvPr/>
        </p:nvSpPr>
        <p:spPr>
          <a:xfrm>
            <a:off x="3474720" y="5989320"/>
            <a:ext cx="1600200" cy="274320"/>
          </a:xfrm>
          <a:prstGeom prst="roundRect">
            <a:avLst>
              <a:gd name="adj" fmla="val 23333"/>
            </a:avLst>
          </a:prstGeom>
          <a:solidFill>
            <a:srgbClr val="FFF6DA"/>
          </a:solidFill>
          <a:ln w="10160">
            <a:solidFill>
              <a:srgbClr val="FFF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3529584" y="6071616"/>
            <a:ext cx="1490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STACKED BAR</a:t>
            </a:r>
            <a:endParaRPr lang="en-US" sz="760" dirty="0"/>
          </a:p>
        </p:txBody>
      </p:sp>
      <p:sp>
        <p:nvSpPr>
          <p:cNvPr id="22" name="Shape 17"/>
          <p:cNvSpPr/>
          <p:nvPr/>
        </p:nvSpPr>
        <p:spPr>
          <a:xfrm>
            <a:off x="5202936" y="5989320"/>
            <a:ext cx="1325880" cy="274320"/>
          </a:xfrm>
          <a:prstGeom prst="roundRect">
            <a:avLst>
              <a:gd name="adj" fmla="val 23333"/>
            </a:avLst>
          </a:prstGeom>
          <a:solidFill>
            <a:srgbClr val="FDE8E2"/>
          </a:solidFill>
          <a:ln w="10160">
            <a:solidFill>
              <a:srgbClr val="FDE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257800" y="6071616"/>
            <a:ext cx="12161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BAR</a:t>
            </a:r>
            <a:endParaRPr lang="en-US" sz="760" dirty="0"/>
          </a:p>
        </p:txBody>
      </p:sp>
      <p:sp>
        <p:nvSpPr>
          <p:cNvPr id="24" name="Shape 19"/>
          <p:cNvSpPr/>
          <p:nvPr/>
        </p:nvSpPr>
        <p:spPr>
          <a:xfrm>
            <a:off x="6656832" y="59893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E7F0F7"/>
          </a:solidFill>
          <a:ln w="10160">
            <a:solidFill>
              <a:srgbClr val="E7F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711696" y="6071616"/>
            <a:ext cx="1307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COLUMN</a:t>
            </a:r>
            <a:endParaRPr lang="en-US" sz="760" dirty="0"/>
          </a:p>
        </p:txBody>
      </p:sp>
      <p:sp>
        <p:nvSpPr>
          <p:cNvPr id="26" name="Shape 21"/>
          <p:cNvSpPr/>
          <p:nvPr/>
        </p:nvSpPr>
        <p:spPr>
          <a:xfrm>
            <a:off x="8202168" y="5989320"/>
            <a:ext cx="1298448" cy="274320"/>
          </a:xfrm>
          <a:prstGeom prst="roundRect">
            <a:avLst>
              <a:gd name="adj" fmla="val 23333"/>
            </a:avLst>
          </a:prstGeom>
          <a:solidFill>
            <a:srgbClr val="DCEFF1"/>
          </a:solidFill>
          <a:ln w="10160">
            <a:solidFill>
              <a:srgbClr val="D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257032" y="6071616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HEATMAP</a:t>
            </a:r>
            <a:endParaRPr lang="en-US" sz="760" dirty="0"/>
          </a:p>
        </p:txBody>
      </p:sp>
      <p:sp>
        <p:nvSpPr>
          <p:cNvPr id="28" name="Shape 23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84048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2 - Consolidated View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Full-range performance summary for demand, service quality, admissions and referral patterns.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11265408" cy="5385816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consolidated_view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792" y="1097280"/>
            <a:ext cx="9412224" cy="529437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View - KPI Visuals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KPI cards summarize the selected date range.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1088136"/>
            <a:ext cx="11265408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consolidated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65772"/>
            <a:ext cx="11173968" cy="98092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2064" y="2926080"/>
            <a:ext cx="59436" cy="24688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9224" y="290779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Full-range results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1208" y="3273552"/>
            <a:ext cx="168249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" y="3300984"/>
            <a:ext cx="50292" cy="111556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7512" y="3502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9,216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30936" y="40507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VISITS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2395728" y="3273552"/>
            <a:ext cx="168249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423160" y="3300984"/>
            <a:ext cx="50292" cy="111556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42032" y="3502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 min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2505456" y="40507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4270248" y="3273552"/>
            <a:ext cx="168249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297680" y="3300984"/>
            <a:ext cx="50292" cy="1115568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416552" y="3502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40.7%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4379976" y="40507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&lt;=30 MIN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6144768" y="3273552"/>
            <a:ext cx="168249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172200" y="3300984"/>
            <a:ext cx="50292" cy="111556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91072" y="3502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4.99/10</a:t>
            </a:r>
            <a:endParaRPr lang="en-US" sz="1850" dirty="0"/>
          </a:p>
        </p:txBody>
      </p:sp>
      <p:sp>
        <p:nvSpPr>
          <p:cNvPr id="29" name="Text 26"/>
          <p:cNvSpPr/>
          <p:nvPr/>
        </p:nvSpPr>
        <p:spPr>
          <a:xfrm>
            <a:off x="6254496" y="40507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8019288" y="3273552"/>
            <a:ext cx="168249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046720" y="3300984"/>
            <a:ext cx="50292" cy="11155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165592" y="3502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</a:t>
            </a:r>
            <a:endParaRPr lang="en-US" sz="1850" dirty="0"/>
          </a:p>
        </p:txBody>
      </p:sp>
      <p:sp>
        <p:nvSpPr>
          <p:cNvPr id="33" name="Text 30"/>
          <p:cNvSpPr/>
          <p:nvPr/>
        </p:nvSpPr>
        <p:spPr>
          <a:xfrm>
            <a:off x="8129016" y="40507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RATE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9893808" y="3273552"/>
            <a:ext cx="168249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21240" y="3300984"/>
            <a:ext cx="50292" cy="11155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0040112" y="3502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41.4%</a:t>
            </a:r>
            <a:endParaRPr lang="en-US" sz="1850" dirty="0"/>
          </a:p>
        </p:txBody>
      </p:sp>
      <p:sp>
        <p:nvSpPr>
          <p:cNvPr id="37" name="Text 34"/>
          <p:cNvSpPr/>
          <p:nvPr/>
        </p:nvSpPr>
        <p:spPr>
          <a:xfrm>
            <a:off x="10003536" y="40507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RATE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521208" y="4736592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48640" y="4764024"/>
            <a:ext cx="50292" cy="9692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58952" y="49834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caution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2331720" y="4882896"/>
            <a:ext cx="8924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4.99/10 satisfaction result is based on 2,517 responses, representing 27.3% of all visits. The response rate should be shown with the score to avoid over-interpreting the average.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3 - Patient Details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filterable investigation page combining cohort KPIs, patient records and summary charts.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11265408" cy="5385816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patient_detail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792" y="1097280"/>
            <a:ext cx="9412224" cy="529437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Details - KPIs and Filter Controls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supports date, patient, gender, age, department and admission-status filtering.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1088136"/>
            <a:ext cx="1126540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patient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7272"/>
            <a:ext cx="11173968" cy="91216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2441448"/>
            <a:ext cx="1126540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pbix_actual_assets/patient_slic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46547"/>
            <a:ext cx="11173968" cy="64136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2064" y="3776472"/>
            <a:ext cx="59436" cy="2468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9224" y="375818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design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21208" y="4133088"/>
            <a:ext cx="34290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4160520"/>
            <a:ext cx="50292" cy="129844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49808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KPIs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49808" y="47365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patients, admitted, not admitted and average wait update with slicers.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4242816" y="4133088"/>
            <a:ext cx="34290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270248" y="4160520"/>
            <a:ext cx="50292" cy="129844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471416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filtering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471416" y="47365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name/ID search plus five categorical controls and a date range.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7964424" y="4133088"/>
            <a:ext cx="34290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991856" y="4160520"/>
            <a:ext cx="50292" cy="12984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8193024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action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8193024" y="47365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bookmark-backed button restores the default filter state.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Details - Record-Level Table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table provides row-level context for investigation, sorting and filtered review.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11265408" cy="5193792"/>
          </a:xfrm>
          <a:prstGeom prst="roundRect">
            <a:avLst>
              <a:gd name="adj" fmla="val 1232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patient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0866"/>
            <a:ext cx="11173968" cy="49900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Details - Summary Visuals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right-side visuals summarize wait-time distribution and the leading referral departments.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66344" y="1078992"/>
            <a:ext cx="3794760" cy="51663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pbix_actual_assets/patient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31" y="1124712"/>
            <a:ext cx="3557187" cy="5074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17136" y="1243584"/>
            <a:ext cx="59436" cy="2468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54296" y="122529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Wait-time mix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35424" y="1664208"/>
            <a:ext cx="2148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62856" y="1691640"/>
            <a:ext cx="50292" cy="8412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00016" y="179222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30 MINUTES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4700016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59.3%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700016" y="236829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5,467 of 9,216 visits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6839712" y="1664208"/>
            <a:ext cx="2148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867144" y="1691640"/>
            <a:ext cx="50292" cy="84124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04304" y="179222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31-45 MINUTES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7004304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004304" y="236829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2,717 visits</a:t>
            </a:r>
            <a:endParaRPr lang="en-US" sz="710" dirty="0"/>
          </a:p>
        </p:txBody>
      </p:sp>
      <p:sp>
        <p:nvSpPr>
          <p:cNvPr id="24" name="Shape 21"/>
          <p:cNvSpPr/>
          <p:nvPr/>
        </p:nvSpPr>
        <p:spPr>
          <a:xfrm>
            <a:off x="9144000" y="1664208"/>
            <a:ext cx="21488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171432" y="1691640"/>
            <a:ext cx="50292" cy="8412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08592" y="179222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kern="0" spc="7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46-60 MINUTES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9308592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308592" y="236829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2,750 visits</a:t>
            </a:r>
            <a:endParaRPr lang="en-US" sz="710" dirty="0"/>
          </a:p>
        </p:txBody>
      </p:sp>
      <p:sp>
        <p:nvSpPr>
          <p:cNvPr id="29" name="Shape 26"/>
          <p:cNvSpPr/>
          <p:nvPr/>
        </p:nvSpPr>
        <p:spPr>
          <a:xfrm>
            <a:off x="4517136" y="2944368"/>
            <a:ext cx="59436" cy="24688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654296" y="292608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concentration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35424" y="3300984"/>
            <a:ext cx="6757416" cy="198424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54880" y="35478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Practice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6876288" y="3575304"/>
            <a:ext cx="3383280" cy="11887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405872" y="3547872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1,840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4754880" y="385876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Orthopedics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6876288" y="3886200"/>
            <a:ext cx="1829545" cy="118872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0405872" y="385876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995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4754880" y="416966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Physiotherapy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6876288" y="4197096"/>
            <a:ext cx="507492" cy="118872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0405872" y="4169664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4754880" y="448056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876288" y="4507992"/>
            <a:ext cx="456007" cy="118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0405872" y="448056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4754880" y="479145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Neurology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6876288" y="4818888"/>
            <a:ext cx="354877" cy="11887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0405872" y="4791456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</a:t>
            </a:r>
            <a:endParaRPr lang="en-US" sz="840" dirty="0"/>
          </a:p>
        </p:txBody>
      </p:sp>
      <p:sp>
        <p:nvSpPr>
          <p:cNvPr id="47" name="Shape 44"/>
          <p:cNvSpPr/>
          <p:nvPr/>
        </p:nvSpPr>
        <p:spPr>
          <a:xfrm>
            <a:off x="4535424" y="5532120"/>
            <a:ext cx="6757416" cy="566928"/>
          </a:xfrm>
          <a:prstGeom prst="roundRect">
            <a:avLst>
              <a:gd name="adj" fmla="val 1129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562856" y="5559552"/>
            <a:ext cx="50292" cy="51206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773168" y="5724144"/>
            <a:ext cx="6263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Practice and Orthopedics account for 74.3% of referred visits.</a:t>
            </a:r>
            <a:endParaRPr lang="en-US" sz="930" dirty="0"/>
          </a:p>
        </p:txBody>
      </p:sp>
      <p:sp>
        <p:nvSpPr>
          <p:cNvPr id="50" name="Shape 47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292608"/>
            <a:ext cx="310896" cy="310896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4309" y="348569"/>
            <a:ext cx="43525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585" y="426293"/>
            <a:ext cx="198973" cy="435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and Recommended Actions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21792"/>
            <a:ext cx="9418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report highlights service-timeliness pressure, demand patterns and referral concentration.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5559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1197864"/>
            <a:ext cx="50292" cy="13624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1399032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59.3% waited over 30 minutes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" y="188366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opportunity is improving the timeliness threshold.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70432"/>
            <a:ext cx="5559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53912" y="1197864"/>
            <a:ext cx="50292" cy="136245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82512" y="1399032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is the busiest weekday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188366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1,377 visits occurred on Saturdays across the full period.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907792"/>
            <a:ext cx="5559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0352" y="2935224"/>
            <a:ext cx="50292" cy="136245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" y="3136392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demand is concentrated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952" y="362102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Practice and Orthopedics dominate referred volume.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2907792"/>
            <a:ext cx="5559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53912" y="2935224"/>
            <a:ext cx="50292" cy="136245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82512" y="3136392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coverage is limited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82512" y="362102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27.3% of visits include a satisfaction response.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" y="4681728"/>
            <a:ext cx="59436" cy="2468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" y="466344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 plan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5038344"/>
            <a:ext cx="1118311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" y="5276088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54041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97864" y="5202936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triage and staffing to high-volume days and time bands.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1197864" y="569671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&lt;=30 min %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3456432" y="5276088"/>
            <a:ext cx="384048" cy="38404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56432" y="54041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941064" y="5202936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referral handoffs, especially for the highest-volume departments.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3941064" y="569671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wait / volume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6199632" y="5276088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9632" y="54041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84264" y="5202936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24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satisfaction-response coverage and monitor response bias.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6684264" y="569671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</a:t>
            </a:r>
            <a:endParaRPr lang="en-US" sz="710" dirty="0"/>
          </a:p>
        </p:txBody>
      </p:sp>
      <p:sp>
        <p:nvSpPr>
          <p:cNvPr id="42" name="Text 40"/>
          <p:cNvSpPr/>
          <p:nvPr/>
        </p:nvSpPr>
        <p:spPr>
          <a:xfrm>
            <a:off x="8942832" y="54041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0624" y="6428232"/>
            <a:ext cx="1129284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d30cfba-b3c0-462a-8e0a-1d2a3e49ace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B289C52E8D33A488BB4B8AEDBBBFB6B" ma:contentTypeVersion="16" ma:contentTypeDescription="新しいドキュメントを作成します。" ma:contentTypeScope="" ma:versionID="5c35756777435e6644b6d6ba94701d0c">
  <xsd:schema xmlns:xsd="http://www.w3.org/2001/XMLSchema" xmlns:xs="http://www.w3.org/2001/XMLSchema" xmlns:p="http://schemas.microsoft.com/office/2006/metadata/properties" xmlns:ns3="7a9eb6d6-ca1d-4c28-93b7-24c7c1dfc820" xmlns:ns4="dd30cfba-b3c0-462a-8e0a-1d2a3e49acee" targetNamespace="http://schemas.microsoft.com/office/2006/metadata/properties" ma:root="true" ma:fieldsID="01049de642830d72161dfc3ba8de9ee9" ns3:_="" ns4:_="">
    <xsd:import namespace="7a9eb6d6-ca1d-4c28-93b7-24c7c1dfc820"/>
    <xsd:import namespace="dd30cfba-b3c0-462a-8e0a-1d2a3e49ace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_activity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9eb6d6-ca1d-4c28-93b7-24c7c1dfc82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0cfba-b3c0-462a-8e0a-1d2a3e49ac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E84F76-4998-48E8-874C-BD2C3A3AFAAA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7a9eb6d6-ca1d-4c28-93b7-24c7c1dfc820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dd30cfba-b3c0-462a-8e0a-1d2a3e49ace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0BA3E8A-F8F1-403B-8B6B-88D674B4CE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D78E91-CED6-4C2A-ABBC-B57DC1CAD0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9eb6d6-ca1d-4c28-93b7-24c7c1dfc820"/>
    <ds:schemaRef ds:uri="dd30cfba-b3c0-462a-8e0a-1d2a3e49ac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919</Words>
  <Application>Microsoft Office PowerPoint</Application>
  <PresentationFormat>Widescreen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Power BI 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Room Dashboard - Power BI Portfolio</dc:title>
  <dc:subject>Hospital Emergency Room Power BI Dashboard - current PBIX visuals</dc:subject>
  <dc:creator>Kazmi</dc:creator>
  <cp:lastModifiedBy>Mohsin Kazmi</cp:lastModifiedBy>
  <cp:revision>3</cp:revision>
  <dcterms:created xsi:type="dcterms:W3CDTF">2026-07-31T13:10:35Z</dcterms:created>
  <dcterms:modified xsi:type="dcterms:W3CDTF">2026-07-31T17:19:24Z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0x0101006B289C52E8D33A488BB4B8AEDBBBFB6B</vt:lpwstr>
  </property>
</Properties>
</file>